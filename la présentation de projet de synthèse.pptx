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8288000" cy="10287000"/>
  <p:notesSz cx="6858000" cy="9144000"/>
  <p:embeddedFontLst>
    <p:embeddedFont>
      <p:font typeface="Noto Sans" panose="020B0502040504020204" pitchFamily="34" charset="0"/>
      <p:regular r:id="rId15"/>
    </p:embeddedFont>
    <p:embeddedFont>
      <p:font typeface="Noto Sans Bold" panose="020B0604020202020204" charset="0"/>
      <p:regular r:id="rId16"/>
    </p:embeddedFont>
    <p:embeddedFont>
      <p:font typeface="Noto Serif Bold Italics" panose="020B0604020202020204" charset="0"/>
      <p:regular r:id="rId17"/>
    </p:embeddedFont>
    <p:embeddedFont>
      <p:font typeface="Noto Serif Display" panose="020B0604020202020204"/>
      <p:regular r:id="rId18"/>
    </p:embeddedFont>
    <p:embeddedFont>
      <p:font typeface="Noto Serif Display ExtraCondensed Bold Italics" panose="020B0604020202020204"/>
      <p:regular r:id="rId19"/>
    </p:embeddedFont>
    <p:embeddedFont>
      <p:font typeface="Noto Serif Display ExtraCondensed Italics" panose="020B0604020202020204"/>
      <p:regular r:id="rId20"/>
    </p:embeddedFont>
    <p:embeddedFont>
      <p:font typeface="Noto Serif Italic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54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14149" y="7299139"/>
            <a:ext cx="7059703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Présenté par :Othmane Zouibaa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62025" y="3048684"/>
            <a:ext cx="9363951" cy="3322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438"/>
              </a:lnSpc>
            </a:pPr>
            <a:r>
              <a:rPr lang="en-US" sz="14633" b="1" i="1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MY</a:t>
            </a:r>
            <a:r>
              <a:rPr lang="en-US" sz="14633" b="1" i="1" u="none" strike="noStrike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CRIDITE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36990" y="8248838"/>
            <a:ext cx="12614020" cy="1047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  <a:spcBef>
                <a:spcPct val="0"/>
              </a:spcBef>
            </a:pPr>
            <a:r>
              <a:rPr lang="en-US" sz="3007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Plateforme de gestion digitale des crédits entre vendeurs et consommateurs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71550"/>
            <a:ext cx="1820367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i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22 Juin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246721" y="971550"/>
            <a:ext cx="3336627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00"/>
              </a:lnSpc>
              <a:spcBef>
                <a:spcPct val="0"/>
              </a:spcBef>
            </a:pPr>
            <a:r>
              <a:rPr lang="en-US" sz="2500" i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Établ</a:t>
            </a:r>
            <a:r>
              <a:rPr lang="en-US" sz="2500" i="1" u="none" strike="noStrike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issement : OFPPT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40201" y="1336674"/>
            <a:ext cx="9362480" cy="629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98"/>
              </a:lnSpc>
              <a:spcBef>
                <a:spcPct val="0"/>
              </a:spcBef>
            </a:pPr>
            <a:r>
              <a:rPr lang="en-US" sz="3713" b="1" i="1">
                <a:solidFill>
                  <a:srgbClr val="000000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Projet de Synthèse de Fin de 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20461" y="2250937"/>
            <a:ext cx="9247079" cy="169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endParaRPr/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Cette présentation retrace les différentes étapes de conception, de développement et de réalisation du projet MY CRIDITE.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endParaRPr lang="en-US" sz="2300">
              <a:solidFill>
                <a:srgbClr val="73737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160322" y="4118023"/>
            <a:ext cx="3605510" cy="1286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8"/>
              </a:lnSpc>
              <a:spcBef>
                <a:spcPct val="0"/>
              </a:spcBef>
            </a:pPr>
            <a:r>
              <a:rPr lang="en-US" sz="3713" b="1" i="1">
                <a:solidFill>
                  <a:srgbClr val="3241CA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Introduction &amp;</a:t>
            </a:r>
          </a:p>
          <a:p>
            <a:pPr algn="l">
              <a:lnSpc>
                <a:spcPts val="5198"/>
              </a:lnSpc>
              <a:spcBef>
                <a:spcPct val="0"/>
              </a:spcBef>
            </a:pPr>
            <a:r>
              <a:rPr lang="en-US" sz="3713" b="1" i="1">
                <a:solidFill>
                  <a:srgbClr val="3241CA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 objectifs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60322" y="6610968"/>
            <a:ext cx="4212927" cy="629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8"/>
              </a:lnSpc>
              <a:spcBef>
                <a:spcPct val="0"/>
              </a:spcBef>
            </a:pPr>
            <a:r>
              <a:rPr lang="en-US" sz="3713" b="1" i="1">
                <a:solidFill>
                  <a:srgbClr val="3241CA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Choix techniques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025707" y="4118023"/>
            <a:ext cx="5262293" cy="1286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8"/>
              </a:lnSpc>
              <a:spcBef>
                <a:spcPct val="0"/>
              </a:spcBef>
            </a:pPr>
            <a:r>
              <a:rPr lang="en-US" sz="3713" b="1" i="1">
                <a:solidFill>
                  <a:srgbClr val="3241CA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Fonctionnalités principales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025707" y="6610968"/>
            <a:ext cx="5262293" cy="1286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8"/>
              </a:lnSpc>
              <a:spcBef>
                <a:spcPct val="0"/>
              </a:spcBef>
            </a:pPr>
            <a:r>
              <a:rPr lang="en-US" sz="3713" b="1" i="1">
                <a:solidFill>
                  <a:srgbClr val="3241CA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Difficultés rencontrées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92403" y="4118023"/>
            <a:ext cx="3700860" cy="629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8"/>
              </a:lnSpc>
              <a:spcBef>
                <a:spcPct val="0"/>
              </a:spcBef>
            </a:pPr>
            <a:r>
              <a:rPr lang="en-US" sz="3713" b="1" i="1">
                <a:solidFill>
                  <a:srgbClr val="3241CA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Problématique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92403" y="6610968"/>
            <a:ext cx="4105870" cy="1286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8"/>
              </a:lnSpc>
            </a:pPr>
            <a:r>
              <a:rPr lang="en-US" sz="3713" b="1" i="1">
                <a:solidFill>
                  <a:srgbClr val="3241CA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Réalisation </a:t>
            </a:r>
          </a:p>
          <a:p>
            <a:pPr algn="l">
              <a:lnSpc>
                <a:spcPts val="5198"/>
              </a:lnSpc>
              <a:spcBef>
                <a:spcPct val="0"/>
              </a:spcBef>
            </a:pPr>
            <a:r>
              <a:rPr lang="en-US" sz="3713" b="1" i="1">
                <a:solidFill>
                  <a:srgbClr val="3241CA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(démonstration)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31696" y="1166992"/>
            <a:ext cx="7224608" cy="113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59"/>
              </a:lnSpc>
            </a:pPr>
            <a:r>
              <a:rPr lang="en-US" sz="9600" b="1" i="1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Sommaire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1600" y="495300"/>
            <a:ext cx="11795820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30"/>
              </a:lnSpc>
              <a:spcBef>
                <a:spcPct val="0"/>
              </a:spcBef>
            </a:pPr>
            <a:r>
              <a:rPr lang="en-US" sz="8600" b="1" i="1" dirty="0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</a:t>
            </a:r>
            <a:r>
              <a:rPr lang="en-US" sz="8000" b="1" i="1" dirty="0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Introduction &amp;</a:t>
            </a:r>
            <a:r>
              <a:rPr lang="ar-SA" sz="8000" b="1" i="1" dirty="0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</a:t>
            </a:r>
            <a:r>
              <a:rPr lang="en-US" sz="8000" b="1" i="1" dirty="0" err="1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Objectifs</a:t>
            </a:r>
            <a:r>
              <a:rPr lang="en-US" sz="8000" b="1" i="1" dirty="0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32388" y="2179536"/>
            <a:ext cx="14623224" cy="4152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0"/>
              </a:lnSpc>
              <a:spcBef>
                <a:spcPct val="0"/>
              </a:spcBef>
            </a:pP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Le </a:t>
            </a:r>
            <a:r>
              <a:rPr lang="en-US" sz="4495" i="1" dirty="0" err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projet</a:t>
            </a: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 MY CRIDITE </a:t>
            </a:r>
            <a:r>
              <a:rPr lang="en-US" sz="4495" i="1" dirty="0" err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est</a:t>
            </a: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 </a:t>
            </a:r>
            <a:r>
              <a:rPr lang="en-US" sz="4495" i="1" dirty="0" err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une</a:t>
            </a: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 </a:t>
            </a:r>
            <a:r>
              <a:rPr lang="en-US" sz="4495" i="1" dirty="0" err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plateforme</a:t>
            </a: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 web </a:t>
            </a:r>
            <a:r>
              <a:rPr lang="en-US" sz="4495" i="1" dirty="0" err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conçue</a:t>
            </a: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 pour </a:t>
            </a:r>
            <a:r>
              <a:rPr lang="en-US" sz="4495" i="1" dirty="0" err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digitaliser</a:t>
            </a: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 la gestion des </a:t>
            </a:r>
            <a:r>
              <a:rPr lang="en-US" sz="4495" i="1" dirty="0" err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crédits</a:t>
            </a: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 entre </a:t>
            </a:r>
            <a:r>
              <a:rPr lang="en-US" sz="4495" i="1" dirty="0" err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vendeurs</a:t>
            </a: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 et </a:t>
            </a:r>
            <a:r>
              <a:rPr lang="en-US" sz="4495" i="1" dirty="0" err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consommateurs</a:t>
            </a: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. Il </a:t>
            </a:r>
            <a:r>
              <a:rPr lang="en-US" sz="4495" i="1" dirty="0" err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permet</a:t>
            </a: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 de </a:t>
            </a:r>
            <a:r>
              <a:rPr lang="en-US" sz="4495" i="1" dirty="0" err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centraliser</a:t>
            </a: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 les </a:t>
            </a:r>
            <a:r>
              <a:rPr lang="en-US" sz="4495" i="1" dirty="0" err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informations</a:t>
            </a: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, </a:t>
            </a:r>
            <a:r>
              <a:rPr lang="en-US" sz="4495" i="1" dirty="0" err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d'assurer</a:t>
            </a: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 un </a:t>
            </a:r>
            <a:r>
              <a:rPr lang="en-US" sz="4495" i="1" dirty="0" err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suivi</a:t>
            </a: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 transparent des </a:t>
            </a:r>
            <a:r>
              <a:rPr lang="en-US" sz="4495" i="1" dirty="0" err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dettes</a:t>
            </a: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 et des </a:t>
            </a:r>
            <a:r>
              <a:rPr lang="en-US" sz="4495" i="1" dirty="0" err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paiements</a:t>
            </a: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, et </a:t>
            </a:r>
            <a:r>
              <a:rPr lang="en-US" sz="4495" i="1" dirty="0" err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d'améliorer</a:t>
            </a: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 la communication entre les deux parties grâce à </a:t>
            </a:r>
            <a:r>
              <a:rPr lang="en-US" sz="4495" i="1" dirty="0" err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une</a:t>
            </a: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 interface </a:t>
            </a:r>
            <a:r>
              <a:rPr lang="en-US" sz="4495" i="1" dirty="0" err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moderne</a:t>
            </a: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 et </a:t>
            </a:r>
            <a:r>
              <a:rPr lang="en-US" sz="4495" i="1" dirty="0" err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sécurisée</a:t>
            </a:r>
            <a:r>
              <a:rPr lang="en-US" sz="4495" i="1" dirty="0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.</a:t>
            </a:r>
          </a:p>
          <a:p>
            <a:pPr algn="l">
              <a:lnSpc>
                <a:spcPts val="4720"/>
              </a:lnSpc>
              <a:spcBef>
                <a:spcPct val="0"/>
              </a:spcBef>
            </a:pPr>
            <a:endParaRPr lang="en-US" sz="4495" i="1" dirty="0">
              <a:solidFill>
                <a:srgbClr val="000000"/>
              </a:solidFill>
              <a:latin typeface="Noto Serif Display ExtraCondensed Italics"/>
              <a:ea typeface="Noto Serif Display ExtraCondensed Italics"/>
              <a:cs typeface="Noto Serif Display ExtraCondensed Italics"/>
              <a:sym typeface="Noto Serif Display ExtraCondensed Itali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003774" y="6189601"/>
            <a:ext cx="12280452" cy="3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6"/>
              </a:lnSpc>
            </a:pPr>
            <a:r>
              <a:rPr lang="en-US" sz="4800" b="1" i="1" dirty="0" err="1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Objectifs</a:t>
            </a:r>
            <a:endParaRPr lang="en-US" sz="4800" b="1" i="1" dirty="0">
              <a:solidFill>
                <a:srgbClr val="3241CA"/>
              </a:solidFill>
              <a:latin typeface="Noto Serif Display ExtraCondensed Bold Italics"/>
              <a:ea typeface="Noto Serif Display ExtraCondensed Bold Italics"/>
              <a:cs typeface="Noto Serif Display ExtraCondensed Bold Italics"/>
              <a:sym typeface="Noto Serif Display ExtraCondensed Bold Italics"/>
            </a:endParaRPr>
          </a:p>
          <a:p>
            <a:pPr marL="688044" lvl="1" indent="-344022" algn="ctr">
              <a:lnSpc>
                <a:spcPts val="3346"/>
              </a:lnSpc>
              <a:spcBef>
                <a:spcPct val="0"/>
              </a:spcBef>
              <a:buFont typeface="Arial"/>
              <a:buChar char="•"/>
            </a:pPr>
            <a:r>
              <a:rPr lang="en-US" sz="3186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Digitaliser</a:t>
            </a:r>
            <a:r>
              <a:rPr lang="en-US" sz="3186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la gestion des </a:t>
            </a:r>
            <a:r>
              <a:rPr lang="en-US" sz="3186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crédits</a:t>
            </a:r>
            <a:r>
              <a:rPr lang="en-US" sz="3186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.</a:t>
            </a:r>
          </a:p>
          <a:p>
            <a:pPr marL="688044" lvl="1" indent="-344022" algn="ctr">
              <a:lnSpc>
                <a:spcPts val="3346"/>
              </a:lnSpc>
              <a:spcBef>
                <a:spcPct val="0"/>
              </a:spcBef>
              <a:buFont typeface="Arial"/>
              <a:buChar char="•"/>
            </a:pPr>
            <a:r>
              <a:rPr lang="en-US" sz="3186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Sécuriser</a:t>
            </a:r>
            <a:r>
              <a:rPr lang="en-US" sz="3186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et </a:t>
            </a:r>
            <a:r>
              <a:rPr lang="en-US" sz="3186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centraliser</a:t>
            </a:r>
            <a:r>
              <a:rPr lang="en-US" sz="3186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les données.</a:t>
            </a:r>
          </a:p>
          <a:p>
            <a:pPr marL="688044" lvl="1" indent="-344022" algn="ctr">
              <a:lnSpc>
                <a:spcPts val="3346"/>
              </a:lnSpc>
              <a:spcBef>
                <a:spcPct val="0"/>
              </a:spcBef>
              <a:buFont typeface="Arial"/>
              <a:buChar char="•"/>
            </a:pPr>
            <a:r>
              <a:rPr lang="en-US" sz="3186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Faciliter</a:t>
            </a:r>
            <a:r>
              <a:rPr lang="en-US" sz="3186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le </a:t>
            </a:r>
            <a:r>
              <a:rPr lang="en-US" sz="3186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suivi</a:t>
            </a:r>
            <a:r>
              <a:rPr lang="en-US" sz="3186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des </a:t>
            </a:r>
            <a:r>
              <a:rPr lang="en-US" sz="3186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paiements</a:t>
            </a:r>
            <a:r>
              <a:rPr lang="en-US" sz="3186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.</a:t>
            </a:r>
          </a:p>
          <a:p>
            <a:pPr marL="688044" lvl="1" indent="-344022" algn="ctr">
              <a:lnSpc>
                <a:spcPts val="3346"/>
              </a:lnSpc>
              <a:spcBef>
                <a:spcPct val="0"/>
              </a:spcBef>
              <a:buFont typeface="Arial"/>
              <a:buChar char="•"/>
            </a:pPr>
            <a:r>
              <a:rPr lang="en-US" sz="3186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Améliorer</a:t>
            </a:r>
            <a:r>
              <a:rPr lang="en-US" sz="3186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la transparence entre </a:t>
            </a:r>
            <a:r>
              <a:rPr lang="en-US" sz="3186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vendeur</a:t>
            </a:r>
            <a:r>
              <a:rPr lang="en-US" sz="3186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et </a:t>
            </a:r>
            <a:r>
              <a:rPr lang="en-US" sz="3186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consommateur</a:t>
            </a:r>
            <a:r>
              <a:rPr lang="en-US" sz="3186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.</a:t>
            </a:r>
          </a:p>
          <a:p>
            <a:pPr marL="688044" lvl="1" indent="-344022" algn="ctr">
              <a:lnSpc>
                <a:spcPts val="3346"/>
              </a:lnSpc>
              <a:spcBef>
                <a:spcPct val="0"/>
              </a:spcBef>
              <a:buFont typeface="Arial"/>
              <a:buChar char="•"/>
            </a:pPr>
            <a:r>
              <a:rPr lang="en-US" sz="3186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Réduire</a:t>
            </a:r>
            <a:r>
              <a:rPr lang="en-US" sz="3186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les </a:t>
            </a:r>
            <a:r>
              <a:rPr lang="en-US" sz="3186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erreurs</a:t>
            </a:r>
            <a:r>
              <a:rPr lang="en-US" sz="3186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</a:t>
            </a:r>
            <a:r>
              <a:rPr lang="en-US" sz="3186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liées</a:t>
            </a:r>
            <a:r>
              <a:rPr lang="en-US" sz="3186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à la gestion </a:t>
            </a:r>
            <a:r>
              <a:rPr lang="en-US" sz="3186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manuelle</a:t>
            </a:r>
            <a:r>
              <a:rPr lang="en-US" sz="3186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.</a:t>
            </a:r>
          </a:p>
          <a:p>
            <a:pPr algn="ctr">
              <a:lnSpc>
                <a:spcPts val="3346"/>
              </a:lnSpc>
              <a:spcBef>
                <a:spcPct val="0"/>
              </a:spcBef>
            </a:pPr>
            <a:endParaRPr lang="en-US" sz="3186" b="1" i="1" dirty="0">
              <a:solidFill>
                <a:srgbClr val="000000"/>
              </a:solidFill>
              <a:latin typeface="Noto Serif Display ExtraCondensed Bold Italics"/>
              <a:ea typeface="Noto Serif Display ExtraCondensed Bold Italics"/>
              <a:cs typeface="Noto Serif Display ExtraCondensed Bold Italics"/>
              <a:sym typeface="Noto Serif Display ExtraCondensed Bold Italics"/>
            </a:endParaRPr>
          </a:p>
          <a:p>
            <a:pPr algn="ctr">
              <a:lnSpc>
                <a:spcPts val="3346"/>
              </a:lnSpc>
              <a:spcBef>
                <a:spcPct val="0"/>
              </a:spcBef>
            </a:pPr>
            <a:endParaRPr lang="en-US" sz="3186" b="1" i="1" dirty="0">
              <a:solidFill>
                <a:srgbClr val="000000"/>
              </a:solidFill>
              <a:latin typeface="Noto Serif Display ExtraCondensed Bold Italics"/>
              <a:ea typeface="Noto Serif Display ExtraCondensed Bold Italics"/>
              <a:cs typeface="Noto Serif Display ExtraCondensed Bold Italics"/>
              <a:sym typeface="Noto Serif Display ExtraCondensed Bold Itali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548826" y="4399154"/>
            <a:ext cx="11523082" cy="4704149"/>
          </a:xfrm>
          <a:custGeom>
            <a:avLst/>
            <a:gdLst/>
            <a:ahLst/>
            <a:cxnLst/>
            <a:rect l="l" t="t" r="r" b="b"/>
            <a:pathLst>
              <a:path w="11523082" h="4704149">
                <a:moveTo>
                  <a:pt x="0" y="0"/>
                </a:moveTo>
                <a:lnTo>
                  <a:pt x="11523083" y="0"/>
                </a:lnTo>
                <a:lnTo>
                  <a:pt x="11523083" y="4704149"/>
                </a:lnTo>
                <a:lnTo>
                  <a:pt x="0" y="4704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81" b="-98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531696" y="838732"/>
            <a:ext cx="7224608" cy="1052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65"/>
              </a:lnSpc>
            </a:pPr>
            <a:r>
              <a:rPr lang="en-US" sz="8900" b="1" i="1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Problématique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31321" y="2132839"/>
            <a:ext cx="6000750" cy="1990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Comment digitaliser et sécuriser la gestion des crédits entre vendeurs et consommateurs afin de garantir la conservation des informations, la transparence des dettes et le suivi efficace des paiements ?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73737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559919" y="2132839"/>
            <a:ext cx="6000750" cy="1990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8" lvl="1" indent="-205104" algn="just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Perte des informations enregistrées sur papier.</a:t>
            </a:r>
          </a:p>
          <a:p>
            <a:pPr marL="410208" lvl="1" indent="-205104" algn="just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Difficulté de suivi des dettes et paiements.</a:t>
            </a:r>
          </a:p>
          <a:p>
            <a:pPr marL="410208" lvl="1" indent="-205104" algn="just">
              <a:lnSpc>
                <a:spcPts val="2659"/>
              </a:lnSpc>
              <a:spcBef>
                <a:spcPct val="0"/>
              </a:spcBef>
              <a:buFont typeface="Arial"/>
              <a:buChar char="•"/>
            </a:pPr>
            <a:r>
              <a:rPr lang="en-US" sz="1899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Manque de transparence entre vendeur et consommateur.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737373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just">
              <a:lnSpc>
                <a:spcPts val="2659"/>
              </a:lnSpc>
              <a:spcBef>
                <a:spcPct val="0"/>
              </a:spcBef>
            </a:pPr>
            <a:endParaRPr lang="en-US" sz="1899">
              <a:solidFill>
                <a:srgbClr val="73737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34311" y="4723670"/>
            <a:ext cx="11301259" cy="4534630"/>
          </a:xfrm>
          <a:custGeom>
            <a:avLst/>
            <a:gdLst/>
            <a:ahLst/>
            <a:cxnLst/>
            <a:rect l="l" t="t" r="r" b="b"/>
            <a:pathLst>
              <a:path w="11301259" h="4534630">
                <a:moveTo>
                  <a:pt x="0" y="0"/>
                </a:moveTo>
                <a:lnTo>
                  <a:pt x="11301259" y="0"/>
                </a:lnTo>
                <a:lnTo>
                  <a:pt x="11301259" y="4534630"/>
                </a:lnTo>
                <a:lnTo>
                  <a:pt x="0" y="4534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499108"/>
            <a:ext cx="13236377" cy="1183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30"/>
              </a:lnSpc>
              <a:spcBef>
                <a:spcPct val="0"/>
              </a:spcBef>
            </a:pPr>
            <a:r>
              <a:rPr lang="en-US" sz="8600" b="1" i="1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Fonctionnalités Principales 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8909" y="2046981"/>
            <a:ext cx="5971326" cy="2479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127" lvl="1" indent="-285563" algn="ctr">
              <a:lnSpc>
                <a:spcPts val="2777"/>
              </a:lnSpc>
              <a:buFont typeface="Arial"/>
              <a:buChar char="•"/>
            </a:pPr>
            <a:r>
              <a:rPr lang="en-US" sz="2645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👨‍💼 Espace </a:t>
            </a:r>
            <a:r>
              <a:rPr lang="en-US" sz="2645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Vendeur</a:t>
            </a:r>
            <a:endParaRPr lang="en-US" sz="2645" b="1" i="1" dirty="0">
              <a:solidFill>
                <a:srgbClr val="000000"/>
              </a:solidFill>
              <a:latin typeface="Noto Serif Display ExtraCondensed Bold Italics"/>
              <a:ea typeface="Noto Serif Display ExtraCondensed Bold Italics"/>
              <a:cs typeface="Noto Serif Display ExtraCondensed Bold Italics"/>
              <a:sym typeface="Noto Serif Display ExtraCondensed Bold Italics"/>
            </a:endParaRPr>
          </a:p>
          <a:p>
            <a:pPr marL="571127" lvl="1" indent="-285563" algn="ctr">
              <a:lnSpc>
                <a:spcPts val="2777"/>
              </a:lnSpc>
              <a:buFont typeface="Arial"/>
              <a:buChar char="•"/>
            </a:pPr>
            <a:r>
              <a:rPr lang="en-US" sz="2645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Ajouter</a:t>
            </a:r>
            <a:r>
              <a:rPr lang="en-US" sz="2645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un </a:t>
            </a:r>
            <a:r>
              <a:rPr lang="en-US" sz="2645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consommateur</a:t>
            </a:r>
            <a:r>
              <a:rPr lang="en-US" sz="2645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.</a:t>
            </a:r>
          </a:p>
          <a:p>
            <a:pPr marL="571127" lvl="1" indent="-285563" algn="ctr">
              <a:lnSpc>
                <a:spcPts val="2777"/>
              </a:lnSpc>
              <a:buFont typeface="Arial"/>
              <a:buChar char="•"/>
            </a:pPr>
            <a:r>
              <a:rPr lang="en-US" sz="2645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Créer</a:t>
            </a:r>
            <a:r>
              <a:rPr lang="en-US" sz="2645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et </a:t>
            </a:r>
            <a:r>
              <a:rPr lang="en-US" sz="2645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gérer</a:t>
            </a:r>
            <a:r>
              <a:rPr lang="en-US" sz="2645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les </a:t>
            </a:r>
            <a:r>
              <a:rPr lang="en-US" sz="2645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crédits</a:t>
            </a:r>
            <a:r>
              <a:rPr lang="en-US" sz="2645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.</a:t>
            </a:r>
          </a:p>
          <a:p>
            <a:pPr marL="571127" lvl="1" indent="-285563" algn="ctr">
              <a:lnSpc>
                <a:spcPts val="2777"/>
              </a:lnSpc>
              <a:buFont typeface="Arial"/>
              <a:buChar char="•"/>
            </a:pPr>
            <a:r>
              <a:rPr lang="en-US" sz="2645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Enregistrer</a:t>
            </a:r>
            <a:r>
              <a:rPr lang="en-US" sz="2645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les </a:t>
            </a:r>
            <a:r>
              <a:rPr lang="en-US" sz="2645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paiements</a:t>
            </a:r>
            <a:r>
              <a:rPr lang="en-US" sz="2645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.</a:t>
            </a:r>
          </a:p>
          <a:p>
            <a:pPr marL="571127" lvl="1" indent="-285563" algn="ctr">
              <a:lnSpc>
                <a:spcPts val="2777"/>
              </a:lnSpc>
              <a:buFont typeface="Arial"/>
              <a:buChar char="•"/>
            </a:pPr>
            <a:r>
              <a:rPr lang="en-US" sz="2645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Consulter la </a:t>
            </a:r>
            <a:r>
              <a:rPr lang="en-US" sz="2645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liste</a:t>
            </a:r>
            <a:r>
              <a:rPr lang="en-US" sz="2645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des </a:t>
            </a:r>
            <a:r>
              <a:rPr lang="en-US" sz="2645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consommateurs</a:t>
            </a:r>
            <a:r>
              <a:rPr lang="en-US" sz="2645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.</a:t>
            </a:r>
          </a:p>
          <a:p>
            <a:pPr marL="571127" lvl="1" indent="-285563" algn="ctr">
              <a:lnSpc>
                <a:spcPts val="2777"/>
              </a:lnSpc>
              <a:buFont typeface="Arial"/>
              <a:buChar char="•"/>
            </a:pPr>
            <a:r>
              <a:rPr lang="en-US" sz="2645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Suivre</a:t>
            </a:r>
            <a:r>
              <a:rPr lang="en-US" sz="2645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les </a:t>
            </a:r>
            <a:r>
              <a:rPr lang="en-US" sz="2645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statistiques</a:t>
            </a:r>
            <a:r>
              <a:rPr lang="en-US" sz="2645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et les </a:t>
            </a:r>
            <a:r>
              <a:rPr lang="en-US" sz="2645" b="1" i="1" dirty="0" err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dettes</a:t>
            </a:r>
            <a:r>
              <a:rPr lang="en-US" sz="2645" b="1" i="1" dirty="0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.</a:t>
            </a:r>
          </a:p>
          <a:p>
            <a:pPr algn="ctr">
              <a:lnSpc>
                <a:spcPts val="2777"/>
              </a:lnSpc>
            </a:pPr>
            <a:endParaRPr lang="en-US" sz="2645" b="1" i="1" dirty="0">
              <a:solidFill>
                <a:srgbClr val="000000"/>
              </a:solidFill>
              <a:latin typeface="Noto Serif Display ExtraCondensed Bold Italics"/>
              <a:ea typeface="Noto Serif Display ExtraCondensed Bold Italics"/>
              <a:cs typeface="Noto Serif Display ExtraCondensed Bold Italics"/>
              <a:sym typeface="Noto Serif Display ExtraCondensed Bold Itali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929409" y="1938060"/>
            <a:ext cx="4821344" cy="3152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fr-FR" sz="2300" b="1" i="1" dirty="0">
                <a:latin typeface="Noto Serif Display ExtraCondensed Bold Italics" panose="020B0604020202020204"/>
                <a:ea typeface="Noto Serif Display ExtraCondensed Bold Italics" panose="020B0604020202020204"/>
                <a:cs typeface="Noto Serif Display ExtraCondensed Bold Italics" panose="020B0604020202020204"/>
              </a:rPr>
              <a:t>👤 Espace Consommateur</a:t>
            </a:r>
          </a:p>
          <a:p>
            <a:pPr algn="ctr"/>
            <a:r>
              <a:rPr lang="fr-FR" sz="2300" b="1" i="1" dirty="0">
                <a:latin typeface="Noto Serif Display ExtraCondensed Bold Italics" panose="020B0604020202020204"/>
                <a:ea typeface="Noto Serif Display ExtraCondensed Bold Italics" panose="020B0604020202020204"/>
                <a:cs typeface="Noto Serif Display ExtraCondensed Bold Italics" panose="020B0604020202020204"/>
              </a:rPr>
              <a:t>Consulter les crédits actifs. </a:t>
            </a:r>
          </a:p>
          <a:p>
            <a:pPr algn="ctr"/>
            <a:r>
              <a:rPr lang="fr-FR" sz="2300" b="1" i="1" dirty="0">
                <a:latin typeface="Noto Serif Display ExtraCondensed Bold Italics" panose="020B0604020202020204"/>
                <a:ea typeface="Noto Serif Display ExtraCondensed Bold Italics" panose="020B0604020202020204"/>
                <a:cs typeface="Noto Serif Display ExtraCondensed Bold Italics" panose="020B0604020202020204"/>
              </a:rPr>
              <a:t>Accepter ou refuser un nouveau crédit. </a:t>
            </a:r>
          </a:p>
          <a:p>
            <a:pPr algn="ctr"/>
            <a:r>
              <a:rPr lang="fr-FR" sz="2300" b="1" i="1" dirty="0">
                <a:latin typeface="Noto Serif Display ExtraCondensed Bold Italics" panose="020B0604020202020204"/>
                <a:ea typeface="Noto Serif Display ExtraCondensed Bold Italics" panose="020B0604020202020204"/>
                <a:cs typeface="Noto Serif Display ExtraCondensed Bold Italics" panose="020B0604020202020204"/>
              </a:rPr>
              <a:t>Demander un paiement partiel ou total. </a:t>
            </a:r>
          </a:p>
          <a:p>
            <a:pPr algn="ctr"/>
            <a:r>
              <a:rPr lang="fr-FR" sz="2300" b="1" i="1" dirty="0">
                <a:latin typeface="Noto Serif Display ExtraCondensed Bold Italics" panose="020B0604020202020204"/>
                <a:ea typeface="Noto Serif Display ExtraCondensed Bold Italics" panose="020B0604020202020204"/>
                <a:cs typeface="Noto Serif Display ExtraCondensed Bold Italics" panose="020B0604020202020204"/>
              </a:rPr>
              <a:t>Consulter l'historique des paiements. </a:t>
            </a:r>
          </a:p>
          <a:p>
            <a:pPr algn="ctr"/>
            <a:r>
              <a:rPr lang="fr-FR" sz="2300" b="1" i="1" dirty="0">
                <a:latin typeface="Noto Serif Display ExtraCondensed Bold Italics" panose="020B0604020202020204"/>
                <a:ea typeface="Noto Serif Display ExtraCondensed Bold Italics" panose="020B0604020202020204"/>
                <a:cs typeface="Noto Serif Display ExtraCondensed Bold Italics" panose="020B0604020202020204"/>
              </a:rPr>
              <a:t>Recevoir des notifications et confirmations. </a:t>
            </a:r>
          </a:p>
          <a:p>
            <a:pPr algn="ctr">
              <a:lnSpc>
                <a:spcPts val="2473"/>
              </a:lnSpc>
              <a:spcBef>
                <a:spcPct val="0"/>
              </a:spcBef>
            </a:pPr>
            <a:endParaRPr lang="en-US" sz="2300" b="1" i="1" dirty="0">
              <a:solidFill>
                <a:srgbClr val="000000"/>
              </a:solidFill>
              <a:latin typeface="Noto Serif Display ExtraCondensed Bold Italics" panose="020B0604020202020204"/>
              <a:ea typeface="Noto Serif Display ExtraCondensed Bold Italics" panose="020B0604020202020204"/>
              <a:cs typeface="Noto Serif Display ExtraCondensed Bold Italics" panose="020B0604020202020204"/>
              <a:sym typeface="Noto Serif Display ExtraCondensed Bold Itali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750752" y="2046981"/>
            <a:ext cx="5969636" cy="262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7"/>
              </a:lnSpc>
              <a:spcBef>
                <a:spcPct val="0"/>
              </a:spcBef>
            </a:pPr>
            <a:r>
              <a:rPr lang="en-US" sz="2807" b="1" i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Valeur ajoutée de MY CRIDITE</a:t>
            </a:r>
          </a:p>
          <a:p>
            <a:pPr marL="606102" lvl="1" indent="-303051" algn="ctr">
              <a:lnSpc>
                <a:spcPts val="2947"/>
              </a:lnSpc>
              <a:spcBef>
                <a:spcPct val="0"/>
              </a:spcBef>
              <a:buFont typeface="Arial"/>
              <a:buChar char="•"/>
            </a:pPr>
            <a:r>
              <a:rPr lang="en-US" sz="2807" b="1" i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Centralisation des informations.</a:t>
            </a:r>
          </a:p>
          <a:p>
            <a:pPr marL="606102" lvl="1" indent="-303051" algn="ctr">
              <a:lnSpc>
                <a:spcPts val="2947"/>
              </a:lnSpc>
              <a:spcBef>
                <a:spcPct val="0"/>
              </a:spcBef>
              <a:buFont typeface="Arial"/>
              <a:buChar char="•"/>
            </a:pPr>
            <a:r>
              <a:rPr lang="en-US" sz="2807" b="1" i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Suivi en temps réel des dettes.</a:t>
            </a:r>
          </a:p>
          <a:p>
            <a:pPr marL="606102" lvl="1" indent="-303051" algn="ctr">
              <a:lnSpc>
                <a:spcPts val="2947"/>
              </a:lnSpc>
              <a:spcBef>
                <a:spcPct val="0"/>
              </a:spcBef>
              <a:buFont typeface="Arial"/>
              <a:buChar char="•"/>
            </a:pPr>
            <a:r>
              <a:rPr lang="en-US" sz="2807" b="1" i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Réduction des erreurs de gestion.</a:t>
            </a:r>
          </a:p>
          <a:p>
            <a:pPr marL="606102" lvl="1" indent="-303051" algn="ctr">
              <a:lnSpc>
                <a:spcPts val="2947"/>
              </a:lnSpc>
              <a:spcBef>
                <a:spcPct val="0"/>
              </a:spcBef>
              <a:buFont typeface="Arial"/>
              <a:buChar char="•"/>
            </a:pPr>
            <a:r>
              <a:rPr lang="en-US" sz="2807" b="1" i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Transparence entre vendeur et consommateur.</a:t>
            </a:r>
          </a:p>
          <a:p>
            <a:pPr algn="ctr">
              <a:lnSpc>
                <a:spcPts val="2947"/>
              </a:lnSpc>
              <a:spcBef>
                <a:spcPct val="0"/>
              </a:spcBef>
            </a:pPr>
            <a:endParaRPr lang="en-US" sz="2807" b="1" i="1">
              <a:solidFill>
                <a:srgbClr val="000000"/>
              </a:solidFill>
              <a:latin typeface="Noto Serif Display ExtraCondensed Bold Italics"/>
              <a:ea typeface="Noto Serif Display ExtraCondensed Bold Italics"/>
              <a:cs typeface="Noto Serif Display ExtraCondensed Bold Italics"/>
              <a:sym typeface="Noto Serif Display ExtraCondensed Bold Itali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24729" y="2888800"/>
            <a:ext cx="12438542" cy="6201682"/>
          </a:xfrm>
          <a:custGeom>
            <a:avLst/>
            <a:gdLst/>
            <a:ahLst/>
            <a:cxnLst/>
            <a:rect l="l" t="t" r="r" b="b"/>
            <a:pathLst>
              <a:path w="12438542" h="6201682">
                <a:moveTo>
                  <a:pt x="0" y="0"/>
                </a:moveTo>
                <a:lnTo>
                  <a:pt x="12438542" y="0"/>
                </a:lnTo>
                <a:lnTo>
                  <a:pt x="12438542" y="6201682"/>
                </a:lnTo>
                <a:lnTo>
                  <a:pt x="0" y="6201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39" t="-1569" r="-193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116022" y="624840"/>
            <a:ext cx="7377111" cy="113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59"/>
              </a:lnSpc>
            </a:pPr>
            <a:r>
              <a:rPr lang="en-US" sz="9600" b="1" i="1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Conception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3169" y="1888163"/>
            <a:ext cx="9993131" cy="621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6"/>
              </a:lnSpc>
              <a:spcBef>
                <a:spcPct val="0"/>
              </a:spcBef>
            </a:pPr>
            <a:r>
              <a:rPr lang="en-US" sz="3669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669">
                <a:solidFill>
                  <a:srgbClr val="3241CA"/>
                </a:solidFill>
                <a:latin typeface="Noto Sans"/>
                <a:ea typeface="Noto Sans"/>
                <a:cs typeface="Noto Sans"/>
                <a:sym typeface="Noto Sans"/>
              </a:rPr>
              <a:t>Diagramme de Cas d'Utilisation (Use Case):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36921" y="2486286"/>
            <a:ext cx="12955913" cy="7220513"/>
          </a:xfrm>
          <a:custGeom>
            <a:avLst/>
            <a:gdLst/>
            <a:ahLst/>
            <a:cxnLst/>
            <a:rect l="l" t="t" r="r" b="b"/>
            <a:pathLst>
              <a:path w="12955913" h="7220513">
                <a:moveTo>
                  <a:pt x="0" y="0"/>
                </a:moveTo>
                <a:lnTo>
                  <a:pt x="12955913" y="0"/>
                </a:lnTo>
                <a:lnTo>
                  <a:pt x="12955913" y="7220513"/>
                </a:lnTo>
                <a:lnTo>
                  <a:pt x="0" y="722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96" r="-89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39082" y="865721"/>
            <a:ext cx="9309696" cy="1051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85"/>
              </a:lnSpc>
              <a:spcBef>
                <a:spcPct val="0"/>
              </a:spcBef>
            </a:pPr>
            <a:r>
              <a:rPr lang="en-US" sz="7700" b="1" i="1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Diagramme de Classe 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906" y="1971239"/>
            <a:ext cx="8885747" cy="1080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35"/>
              </a:lnSpc>
            </a:pPr>
            <a:r>
              <a:rPr lang="en-US" sz="9100" b="1" i="1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Choix Techniques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6906" y="3552464"/>
            <a:ext cx="5016091" cy="323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React permet de créer une interface moderne et réactive.</a:t>
            </a:r>
          </a:p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Redux facilite la gestion de l'état de l'application.</a:t>
            </a:r>
          </a:p>
          <a:p>
            <a:pPr marL="367029" lvl="1" indent="-183514" algn="l">
              <a:lnSpc>
                <a:spcPts val="2379"/>
              </a:lnSpc>
              <a:spcBef>
                <a:spcPct val="0"/>
              </a:spcBef>
              <a:buFont typeface="Arial"/>
              <a:buChar char="•"/>
            </a:pPr>
            <a:r>
              <a:rPr lang="en-US" sz="1699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Laravel offre une architecture robuste et sécurisée.</a:t>
            </a:r>
          </a:p>
          <a:p>
            <a:pPr marL="367029" lvl="1" indent="-183514" algn="l">
              <a:lnSpc>
                <a:spcPts val="2379"/>
              </a:lnSpc>
              <a:spcBef>
                <a:spcPct val="0"/>
              </a:spcBef>
              <a:buFont typeface="Arial"/>
              <a:buChar char="•"/>
            </a:pPr>
            <a:r>
              <a:rPr lang="en-US" sz="1699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Sanctum assure l'authentification des utilisateurs.</a:t>
            </a:r>
          </a:p>
          <a:p>
            <a:pPr marL="367029" lvl="1" indent="-183514" algn="l">
              <a:lnSpc>
                <a:spcPts val="2379"/>
              </a:lnSpc>
              <a:spcBef>
                <a:spcPct val="0"/>
              </a:spcBef>
              <a:buFont typeface="Arial"/>
              <a:buChar char="•"/>
            </a:pPr>
            <a:r>
              <a:rPr lang="en-US" sz="1699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MySQL garantit la conservation et la gestion des données.</a:t>
            </a:r>
          </a:p>
          <a:p>
            <a:pPr algn="l">
              <a:lnSpc>
                <a:spcPts val="2379"/>
              </a:lnSpc>
              <a:spcBef>
                <a:spcPct val="0"/>
              </a:spcBef>
            </a:pPr>
            <a:endParaRPr lang="en-US" sz="1699">
              <a:solidFill>
                <a:srgbClr val="73737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979381" y="1570828"/>
            <a:ext cx="3921165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69"/>
              </a:lnSpc>
            </a:pPr>
            <a:r>
              <a:rPr lang="en-US" sz="4200" b="1" i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Front-end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788881" y="2318577"/>
            <a:ext cx="2929935" cy="871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React JS</a:t>
            </a:r>
          </a:p>
          <a:p>
            <a:pPr marL="367029" lvl="1" indent="-183514" algn="l">
              <a:lnSpc>
                <a:spcPts val="2379"/>
              </a:lnSpc>
              <a:spcBef>
                <a:spcPct val="0"/>
              </a:spcBef>
              <a:buFont typeface="Arial"/>
              <a:buChar char="•"/>
            </a:pPr>
            <a:r>
              <a:rPr lang="en-US" sz="1699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Redux Toolkit</a:t>
            </a:r>
          </a:p>
          <a:p>
            <a:pPr algn="l">
              <a:lnSpc>
                <a:spcPts val="2379"/>
              </a:lnSpc>
              <a:spcBef>
                <a:spcPct val="0"/>
              </a:spcBef>
            </a:pPr>
            <a:endParaRPr lang="en-US" sz="1699">
              <a:solidFill>
                <a:srgbClr val="73737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926670" y="4634750"/>
            <a:ext cx="3921165" cy="491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69"/>
              </a:lnSpc>
            </a:pPr>
            <a:r>
              <a:rPr lang="en-US" sz="4200" b="1" i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Back-end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36170" y="5382499"/>
            <a:ext cx="2929935" cy="871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29" lvl="1" indent="-183514" algn="l">
              <a:lnSpc>
                <a:spcPts val="2379"/>
              </a:lnSpc>
              <a:buFont typeface="Arial"/>
              <a:buChar char="•"/>
            </a:pPr>
            <a:r>
              <a:rPr lang="en-US" sz="1699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Laravel 11</a:t>
            </a:r>
          </a:p>
          <a:p>
            <a:pPr marL="367029" lvl="1" indent="-183514" algn="l">
              <a:lnSpc>
                <a:spcPts val="2379"/>
              </a:lnSpc>
              <a:spcBef>
                <a:spcPct val="0"/>
              </a:spcBef>
              <a:buFont typeface="Arial"/>
              <a:buChar char="•"/>
            </a:pPr>
            <a:r>
              <a:rPr lang="en-US" sz="1699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Laravel Sanctum</a:t>
            </a:r>
          </a:p>
          <a:p>
            <a:pPr algn="l">
              <a:lnSpc>
                <a:spcPts val="2379"/>
              </a:lnSpc>
              <a:spcBef>
                <a:spcPct val="0"/>
              </a:spcBef>
            </a:pPr>
            <a:endParaRPr lang="en-US" sz="1699">
              <a:solidFill>
                <a:srgbClr val="73737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405811" y="7489122"/>
            <a:ext cx="3921165" cy="558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42"/>
              </a:lnSpc>
            </a:pPr>
            <a:r>
              <a:rPr lang="en-US" sz="4200" b="1" i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Base de Données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05811" y="8304843"/>
            <a:ext cx="2929935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MySQL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59297"/>
            <a:ext cx="15348885" cy="94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00"/>
              </a:lnSpc>
            </a:pPr>
            <a:r>
              <a:rPr lang="en-US" sz="8000" b="1" i="1" dirty="0" err="1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Réalisation</a:t>
            </a:r>
            <a:r>
              <a:rPr lang="en-US" sz="8000" b="1" i="1" dirty="0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 – </a:t>
            </a:r>
            <a:r>
              <a:rPr lang="en-US" sz="8000" b="1" i="1" dirty="0" err="1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Démonstration</a:t>
            </a:r>
            <a:endParaRPr lang="en-US" sz="8000" b="1" i="1" dirty="0">
              <a:solidFill>
                <a:srgbClr val="3241CA"/>
              </a:solidFill>
              <a:latin typeface="Noto Serif Display ExtraCondensed Bold Italics"/>
              <a:ea typeface="Noto Serif Display ExtraCondensed Bold Italics"/>
              <a:cs typeface="Noto Serif Display ExtraCondensed Bold Italics"/>
              <a:sym typeface="Noto Serif Display ExtraCondensed Bold Itali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02549" y="2294819"/>
            <a:ext cx="6845400" cy="103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sz="6099" i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Scénario Principal: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882954"/>
            <a:ext cx="15956088" cy="4553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  <a:spcBef>
                <a:spcPct val="0"/>
              </a:spcBef>
            </a:pP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Le processus commence par la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connexion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du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vendeur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à son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espace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personnel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afin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d’accéder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aux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fonctionnalités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de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l’application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. Une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fois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connecté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, le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vendeur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procède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à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l’ajout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d’un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consommateur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en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saisissant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ses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informations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personnelles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,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ce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qui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permet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la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création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de son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profil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dans le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système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. Ensuite, le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vendeur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crée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un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crédit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en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sélectionnant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le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produit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concerné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et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en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définissant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le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montant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du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crédit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avant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de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l’enregistrer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dans la base de données. Après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cette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étape,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une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notification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est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envoyée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au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consommateur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pour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l’informer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de la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demande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de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crédit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. Le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consommateur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peut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alors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consulter les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détails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de la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demande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et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décider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de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l’accepter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ou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de la refuser.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Enfin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,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en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cas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de validation du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crédit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, le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système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permet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le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suivi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des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remboursements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à travers la consultation du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solde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restant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,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l’enregistrement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des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paiements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effectués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et la mise à jour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automatique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des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statistiques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liées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aux </a:t>
            </a:r>
            <a:r>
              <a:rPr lang="en-US" sz="2621" i="1" dirty="0" err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crédits</a:t>
            </a:r>
            <a:r>
              <a:rPr lang="en-US" sz="2621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 et aux transactions.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04266" y="1033675"/>
            <a:ext cx="12697014" cy="113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59"/>
              </a:lnSpc>
            </a:pPr>
            <a:r>
              <a:rPr lang="en-US" sz="9600" b="1" i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Difficultés Rencontrées: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314075" y="2316796"/>
            <a:ext cx="14127634" cy="7167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47"/>
              </a:lnSpc>
            </a:pPr>
            <a:r>
              <a:rPr lang="en-US" sz="2676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 Gestion de l'authentification et des rôles</a:t>
            </a:r>
          </a:p>
          <a:p>
            <a:pPr marL="577902" lvl="1" indent="-288951" algn="just">
              <a:lnSpc>
                <a:spcPts val="3747"/>
              </a:lnSpc>
              <a:buFont typeface="Arial"/>
              <a:buChar char="•"/>
            </a:pPr>
            <a:r>
              <a:rPr lang="en-US" sz="2676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Séparer les accès entre Vendeur et Consommateur.</a:t>
            </a:r>
          </a:p>
          <a:p>
            <a:pPr marL="577902" lvl="1" indent="-288951" algn="just">
              <a:lnSpc>
                <a:spcPts val="3747"/>
              </a:lnSpc>
              <a:buFont typeface="Arial"/>
              <a:buChar char="•"/>
            </a:pPr>
            <a:r>
              <a:rPr lang="en-US" sz="2676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Protéger les routes selon le rôle de l'utilisateur.</a:t>
            </a:r>
          </a:p>
          <a:p>
            <a:pPr algn="just">
              <a:lnSpc>
                <a:spcPts val="3747"/>
              </a:lnSpc>
            </a:pPr>
            <a:r>
              <a:rPr lang="en-US" sz="2676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 Communication Front-end / Back-end</a:t>
            </a:r>
          </a:p>
          <a:p>
            <a:pPr marL="577902" lvl="1" indent="-288951" algn="just">
              <a:lnSpc>
                <a:spcPts val="3747"/>
              </a:lnSpc>
              <a:buFont typeface="Arial"/>
              <a:buChar char="•"/>
            </a:pPr>
            <a:r>
              <a:rPr lang="en-US" sz="2676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Connexion entre React et Laravel API.</a:t>
            </a:r>
          </a:p>
          <a:p>
            <a:pPr marL="577902" lvl="1" indent="-288951" algn="just">
              <a:lnSpc>
                <a:spcPts val="3747"/>
              </a:lnSpc>
              <a:buFont typeface="Arial"/>
              <a:buChar char="•"/>
            </a:pPr>
            <a:r>
              <a:rPr lang="en-US" sz="2676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Gestion des requêtes HTTP et des réponses du serveur.</a:t>
            </a:r>
          </a:p>
          <a:p>
            <a:pPr algn="just">
              <a:lnSpc>
                <a:spcPts val="3747"/>
              </a:lnSpc>
            </a:pPr>
            <a:r>
              <a:rPr lang="en-US" sz="2676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 Liaison Consommateur ↔ Crédit</a:t>
            </a:r>
          </a:p>
          <a:p>
            <a:pPr marL="577902" lvl="1" indent="-288951" algn="just">
              <a:lnSpc>
                <a:spcPts val="3747"/>
              </a:lnSpc>
              <a:buFont typeface="Arial"/>
              <a:buChar char="•"/>
            </a:pPr>
            <a:r>
              <a:rPr lang="en-US" sz="2676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Associer automatiquement un crédit au bon consommateur.</a:t>
            </a:r>
          </a:p>
          <a:p>
            <a:pPr marL="577902" lvl="1" indent="-288951" algn="just">
              <a:lnSpc>
                <a:spcPts val="3747"/>
              </a:lnSpc>
              <a:buFont typeface="Arial"/>
              <a:buChar char="•"/>
            </a:pPr>
            <a:r>
              <a:rPr lang="en-US" sz="2676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Synchroniser les données entre les deux espaces utilisateurs.</a:t>
            </a:r>
          </a:p>
          <a:p>
            <a:pPr algn="just">
              <a:lnSpc>
                <a:spcPts val="3747"/>
              </a:lnSpc>
            </a:pPr>
            <a:r>
              <a:rPr lang="en-US" sz="2676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       Solutions Apportées</a:t>
            </a:r>
          </a:p>
          <a:p>
            <a:pPr marL="577902" lvl="1" indent="-288951" algn="just">
              <a:lnSpc>
                <a:spcPts val="3747"/>
              </a:lnSpc>
              <a:buFont typeface="Arial"/>
              <a:buChar char="•"/>
            </a:pPr>
            <a:r>
              <a:rPr lang="en-US" sz="2676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Utilisation de Laravel Sanctum pour l'authentification.</a:t>
            </a:r>
          </a:p>
          <a:p>
            <a:pPr marL="577902" lvl="1" indent="-288951" algn="just">
              <a:lnSpc>
                <a:spcPts val="3747"/>
              </a:lnSpc>
              <a:buFont typeface="Arial"/>
              <a:buChar char="•"/>
            </a:pPr>
            <a:r>
              <a:rPr lang="en-US" sz="2676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Mise en place d'une API REST sécurisée.</a:t>
            </a:r>
          </a:p>
          <a:p>
            <a:pPr marL="577902" lvl="1" indent="-288951" algn="just">
              <a:lnSpc>
                <a:spcPts val="3747"/>
              </a:lnSpc>
              <a:buFont typeface="Arial"/>
              <a:buChar char="•"/>
            </a:pPr>
            <a:r>
              <a:rPr lang="en-US" sz="2676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Utilisation de Redux Toolkit pour centraliser les données.</a:t>
            </a:r>
          </a:p>
          <a:p>
            <a:pPr marL="577902" lvl="1" indent="-288951" algn="just">
              <a:lnSpc>
                <a:spcPts val="3747"/>
              </a:lnSpc>
              <a:buFont typeface="Arial"/>
              <a:buChar char="•"/>
            </a:pPr>
            <a:r>
              <a:rPr lang="en-US" sz="2676">
                <a:solidFill>
                  <a:srgbClr val="737373"/>
                </a:solidFill>
                <a:latin typeface="Noto Sans"/>
                <a:ea typeface="Noto Sans"/>
                <a:cs typeface="Noto Sans"/>
                <a:sym typeface="Noto Sans"/>
              </a:rPr>
              <a:t>Création d'une base de données MySQL relationnelle.</a:t>
            </a:r>
          </a:p>
          <a:p>
            <a:pPr algn="just">
              <a:lnSpc>
                <a:spcPts val="5236"/>
              </a:lnSpc>
              <a:spcBef>
                <a:spcPct val="0"/>
              </a:spcBef>
            </a:pPr>
            <a:endParaRPr lang="en-US" sz="2676">
              <a:solidFill>
                <a:srgbClr val="737373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95400"/>
            <a:ext cx="14212021" cy="93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5"/>
              </a:lnSpc>
            </a:pPr>
            <a:r>
              <a:rPr lang="en-US" sz="7900" b="1" i="1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Bilan &amp; Améliorations Possibles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699862" y="4587451"/>
            <a:ext cx="8888276" cy="2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615144" y="2346918"/>
            <a:ext cx="6828156" cy="403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1"/>
              </a:lnSpc>
            </a:pPr>
            <a:r>
              <a:rPr lang="en-US" sz="2772" b="1" i="1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Objectifs atteints</a:t>
            </a:r>
          </a:p>
          <a:p>
            <a:pPr marL="598611" lvl="1" indent="-299306" algn="ctr">
              <a:lnSpc>
                <a:spcPts val="2911"/>
              </a:lnSpc>
              <a:spcBef>
                <a:spcPct val="0"/>
              </a:spcBef>
              <a:buFont typeface="Arial"/>
              <a:buChar char="•"/>
            </a:pPr>
            <a:r>
              <a:rPr lang="en-US" sz="2772" b="1" i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Digitalisation de la gestion des crédits.</a:t>
            </a:r>
          </a:p>
          <a:p>
            <a:pPr marL="598611" lvl="1" indent="-299306" algn="ctr">
              <a:lnSpc>
                <a:spcPts val="2911"/>
              </a:lnSpc>
              <a:spcBef>
                <a:spcPct val="0"/>
              </a:spcBef>
              <a:buFont typeface="Arial"/>
              <a:buChar char="•"/>
            </a:pPr>
            <a:r>
              <a:rPr lang="en-US" sz="2772" b="1" i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Centralisation des données dans une base MySQL.</a:t>
            </a:r>
          </a:p>
          <a:p>
            <a:pPr marL="598611" lvl="1" indent="-299306" algn="ctr">
              <a:lnSpc>
                <a:spcPts val="2911"/>
              </a:lnSpc>
              <a:spcBef>
                <a:spcPct val="0"/>
              </a:spcBef>
              <a:buFont typeface="Arial"/>
              <a:buChar char="•"/>
            </a:pPr>
            <a:r>
              <a:rPr lang="en-US" sz="2772" b="1" i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Création de deux espaces distincts : Vendeur et Consommateur.</a:t>
            </a:r>
          </a:p>
          <a:p>
            <a:pPr marL="598611" lvl="1" indent="-299306" algn="ctr">
              <a:lnSpc>
                <a:spcPts val="2911"/>
              </a:lnSpc>
              <a:spcBef>
                <a:spcPct val="0"/>
              </a:spcBef>
              <a:buFont typeface="Arial"/>
              <a:buChar char="•"/>
            </a:pPr>
            <a:r>
              <a:rPr lang="en-US" sz="2772" b="1" i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Suivi des crédits et des paiements en temps réel.</a:t>
            </a:r>
          </a:p>
          <a:p>
            <a:pPr marL="598611" lvl="1" indent="-299306" algn="ctr">
              <a:lnSpc>
                <a:spcPts val="2911"/>
              </a:lnSpc>
              <a:spcBef>
                <a:spcPct val="0"/>
              </a:spcBef>
              <a:buFont typeface="Arial"/>
              <a:buChar char="•"/>
            </a:pPr>
            <a:r>
              <a:rPr lang="en-US" sz="2772" b="1" i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Authentification sécurisée avec Laravel Sanctum.</a:t>
            </a:r>
          </a:p>
          <a:p>
            <a:pPr algn="ctr">
              <a:lnSpc>
                <a:spcPts val="2911"/>
              </a:lnSpc>
              <a:spcBef>
                <a:spcPct val="0"/>
              </a:spcBef>
            </a:pPr>
            <a:endParaRPr lang="en-US" sz="2772" b="1" i="1">
              <a:solidFill>
                <a:srgbClr val="000000"/>
              </a:solidFill>
              <a:latin typeface="Noto Serif Display ExtraCondensed Bold Italics"/>
              <a:ea typeface="Noto Serif Display ExtraCondensed Bold Italics"/>
              <a:cs typeface="Noto Serif Display ExtraCondensed Bold Italics"/>
              <a:sym typeface="Noto Serif Display ExtraCondensed Bold Itali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218331" y="2543569"/>
            <a:ext cx="7454524" cy="3244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6"/>
              </a:lnSpc>
              <a:spcBef>
                <a:spcPct val="0"/>
              </a:spcBef>
            </a:pPr>
            <a:r>
              <a:rPr lang="en-US" sz="3482" b="1" i="1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Compétences développées</a:t>
            </a:r>
          </a:p>
          <a:p>
            <a:pPr marL="751906" lvl="1" indent="-375953" algn="ctr">
              <a:lnSpc>
                <a:spcPts val="3656"/>
              </a:lnSpc>
              <a:spcBef>
                <a:spcPct val="0"/>
              </a:spcBef>
              <a:buFont typeface="Arial"/>
              <a:buChar char="•"/>
            </a:pPr>
            <a:r>
              <a:rPr lang="en-US" sz="3482" i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Développement Front-end avec React JS.</a:t>
            </a:r>
          </a:p>
          <a:p>
            <a:pPr marL="751906" lvl="1" indent="-375953" algn="ctr">
              <a:lnSpc>
                <a:spcPts val="3656"/>
              </a:lnSpc>
              <a:spcBef>
                <a:spcPct val="0"/>
              </a:spcBef>
              <a:buFont typeface="Arial"/>
              <a:buChar char="•"/>
            </a:pPr>
            <a:r>
              <a:rPr lang="en-US" sz="3482" i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Développement Back-end avec Laravel.</a:t>
            </a:r>
          </a:p>
          <a:p>
            <a:pPr marL="751906" lvl="1" indent="-375953" algn="ctr">
              <a:lnSpc>
                <a:spcPts val="3656"/>
              </a:lnSpc>
              <a:spcBef>
                <a:spcPct val="0"/>
              </a:spcBef>
              <a:buFont typeface="Arial"/>
              <a:buChar char="•"/>
            </a:pPr>
            <a:r>
              <a:rPr lang="en-US" sz="3482" i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Gestion de base de données MySQL.</a:t>
            </a:r>
          </a:p>
          <a:p>
            <a:pPr marL="751906" lvl="1" indent="-375953" algn="ctr">
              <a:lnSpc>
                <a:spcPts val="3656"/>
              </a:lnSpc>
              <a:spcBef>
                <a:spcPct val="0"/>
              </a:spcBef>
              <a:buFont typeface="Arial"/>
              <a:buChar char="•"/>
            </a:pPr>
            <a:r>
              <a:rPr lang="en-US" sz="3482" i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Conception d'API REST.</a:t>
            </a:r>
          </a:p>
          <a:p>
            <a:pPr marL="751906" lvl="1" indent="-375953" algn="ctr">
              <a:lnSpc>
                <a:spcPts val="3656"/>
              </a:lnSpc>
              <a:spcBef>
                <a:spcPct val="0"/>
              </a:spcBef>
              <a:buFont typeface="Arial"/>
              <a:buChar char="•"/>
            </a:pPr>
            <a:r>
              <a:rPr lang="en-US" sz="3482" i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Gestion d'état avec Redux Toolkit.</a:t>
            </a:r>
          </a:p>
          <a:p>
            <a:pPr algn="ctr">
              <a:lnSpc>
                <a:spcPts val="3656"/>
              </a:lnSpc>
              <a:spcBef>
                <a:spcPct val="0"/>
              </a:spcBef>
            </a:pPr>
            <a:endParaRPr lang="en-US" sz="3482" i="1">
              <a:solidFill>
                <a:srgbClr val="000000"/>
              </a:solidFill>
              <a:latin typeface="Noto Serif Display ExtraCondensed Italics"/>
              <a:ea typeface="Noto Serif Display ExtraCondensed Italics"/>
              <a:cs typeface="Noto Serif Display ExtraCondensed Italics"/>
              <a:sym typeface="Noto Serif Display ExtraCondensed Itali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231261" y="6092639"/>
            <a:ext cx="8066981" cy="321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5"/>
              </a:lnSpc>
            </a:pPr>
            <a:r>
              <a:rPr lang="en-US" sz="3461" b="1" i="1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Améliorations Possibles</a:t>
            </a:r>
          </a:p>
          <a:p>
            <a:pPr marL="747438" lvl="1" indent="-373719" algn="ctr">
              <a:lnSpc>
                <a:spcPts val="3635"/>
              </a:lnSpc>
              <a:buFont typeface="Arial"/>
              <a:buChar char="•"/>
            </a:pPr>
            <a:r>
              <a:rPr lang="en-US" sz="3461" b="1" i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Notifications par SMS ou Email.</a:t>
            </a:r>
          </a:p>
          <a:p>
            <a:pPr marL="747438" lvl="1" indent="-373719" algn="ctr">
              <a:lnSpc>
                <a:spcPts val="3635"/>
              </a:lnSpc>
              <a:buFont typeface="Arial"/>
              <a:buChar char="•"/>
            </a:pPr>
            <a:r>
              <a:rPr lang="en-US" sz="3461" b="1" i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Génération de reçus PDF.</a:t>
            </a:r>
          </a:p>
          <a:p>
            <a:pPr marL="747438" lvl="1" indent="-373719" algn="ctr">
              <a:lnSpc>
                <a:spcPts val="3635"/>
              </a:lnSpc>
              <a:buFont typeface="Arial"/>
              <a:buChar char="•"/>
            </a:pPr>
            <a:r>
              <a:rPr lang="en-US" sz="3461" b="1" i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Tableau de bord analytique avancé.</a:t>
            </a:r>
          </a:p>
          <a:p>
            <a:pPr marL="747438" lvl="1" indent="-373719" algn="ctr">
              <a:lnSpc>
                <a:spcPts val="3635"/>
              </a:lnSpc>
              <a:buFont typeface="Arial"/>
              <a:buChar char="•"/>
            </a:pPr>
            <a:r>
              <a:rPr lang="en-US" sz="3461" b="1" i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Application mobile Android/iOS.</a:t>
            </a:r>
          </a:p>
          <a:p>
            <a:pPr marL="747438" lvl="1" indent="-373719" algn="ctr">
              <a:lnSpc>
                <a:spcPts val="3635"/>
              </a:lnSpc>
              <a:buFont typeface="Arial"/>
              <a:buChar char="•"/>
            </a:pPr>
            <a:r>
              <a:rPr lang="en-US" sz="3461" b="1" i="1">
                <a:solidFill>
                  <a:srgbClr val="000000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Système de recherche et filtres avancés.</a:t>
            </a:r>
          </a:p>
          <a:p>
            <a:pPr algn="ctr">
              <a:lnSpc>
                <a:spcPts val="3635"/>
              </a:lnSpc>
              <a:spcBef>
                <a:spcPct val="0"/>
              </a:spcBef>
            </a:pPr>
            <a:endParaRPr lang="en-US" sz="3461" b="1" i="1">
              <a:solidFill>
                <a:srgbClr val="000000"/>
              </a:solidFill>
              <a:latin typeface="Noto Serif Display ExtraCondensed Bold Italics"/>
              <a:ea typeface="Noto Serif Display ExtraCondensed Bold Italics"/>
              <a:cs typeface="Noto Serif Display ExtraCondensed Bold Italics"/>
              <a:sym typeface="Noto Serif Display ExtraCondensed Bold Itali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16342D0-D881-6C1E-26ED-DDA00490AD3B}"/>
              </a:ext>
            </a:extLst>
          </p:cNvPr>
          <p:cNvSpPr txBox="1"/>
          <p:nvPr/>
        </p:nvSpPr>
        <p:spPr>
          <a:xfrm>
            <a:off x="2286000" y="1181100"/>
            <a:ext cx="9067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i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Display ExtraCondensed Bold Italics" panose="020B0604020202020204"/>
                <a:ea typeface="Noto Serif Display ExtraCondensed Bold Italics" panose="020B0604020202020204"/>
                <a:cs typeface="Noto Serif Display ExtraCondensed Bold Italics" panose="020B0604020202020204"/>
              </a:rPr>
              <a:t>Lien de GitHub du </a:t>
            </a:r>
            <a:r>
              <a:rPr lang="en-US" sz="5400" b="1" i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Display ExtraCondensed Bold Italics" panose="020B0604020202020204"/>
                <a:ea typeface="Noto Serif Display ExtraCondensed Bold Italics" panose="020B0604020202020204"/>
                <a:cs typeface="Noto Serif Display ExtraCondensed Bold Italics" panose="020B0604020202020204"/>
              </a:rPr>
              <a:t>projet</a:t>
            </a:r>
            <a:endParaRPr lang="fr-FR" sz="5400" b="1" i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erif Display ExtraCondensed Bold Italics" panose="020B0604020202020204"/>
              <a:ea typeface="Noto Serif Display ExtraCondensed Bold Italics" panose="020B0604020202020204"/>
              <a:cs typeface="Noto Serif Display ExtraCondensed Bold Italics" panose="020B0604020202020204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463361D-9FB9-3EF0-ADB0-9B84A1B4C054}"/>
              </a:ext>
            </a:extLst>
          </p:cNvPr>
          <p:cNvSpPr txBox="1"/>
          <p:nvPr/>
        </p:nvSpPr>
        <p:spPr>
          <a:xfrm>
            <a:off x="2895600" y="4758779"/>
            <a:ext cx="126492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dirty="0">
                <a:solidFill>
                  <a:schemeClr val="accent1"/>
                </a:solidFill>
              </a:rPr>
              <a:t>https://github.com/othmaneZouibaa/ProMycredit</a:t>
            </a:r>
          </a:p>
        </p:txBody>
      </p:sp>
    </p:spTree>
    <p:extLst>
      <p:ext uri="{BB962C8B-B14F-4D97-AF65-F5344CB8AC3E}">
        <p14:creationId xmlns:p14="http://schemas.microsoft.com/office/powerpoint/2010/main" val="2397498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86331" y="1228725"/>
            <a:ext cx="10436355" cy="739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15"/>
              </a:lnSpc>
            </a:pPr>
            <a:r>
              <a:rPr lang="en-US" sz="6253" b="1" i="1">
                <a:solidFill>
                  <a:srgbClr val="3241CA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87865" y="2447947"/>
            <a:ext cx="6416644" cy="6493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i="1">
                <a:solidFill>
                  <a:srgbClr val="3241CA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Résumé</a:t>
            </a:r>
          </a:p>
          <a:p>
            <a:pPr marL="669304" lvl="1" indent="-334652" algn="ctr">
              <a:lnSpc>
                <a:spcPts val="4340"/>
              </a:lnSpc>
              <a:buFont typeface="Arial"/>
              <a:buChar char="•"/>
            </a:pPr>
            <a:r>
              <a:rPr lang="en-US" sz="3100" i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MY CRIDITE permet de digitaliser la gestion des crédits.</a:t>
            </a:r>
          </a:p>
          <a:p>
            <a:pPr marL="669304" lvl="1" indent="-334652" algn="ctr">
              <a:lnSpc>
                <a:spcPts val="4340"/>
              </a:lnSpc>
              <a:spcBef>
                <a:spcPct val="0"/>
              </a:spcBef>
              <a:buFont typeface="Arial"/>
              <a:buChar char="•"/>
            </a:pPr>
            <a:r>
              <a:rPr lang="en-US" sz="3100" i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Le projet améliore la transparence entre vendeur et consommateur.</a:t>
            </a:r>
          </a:p>
          <a:p>
            <a:pPr marL="669304" lvl="1" indent="-334652" algn="ctr">
              <a:lnSpc>
                <a:spcPts val="4340"/>
              </a:lnSpc>
              <a:spcBef>
                <a:spcPct val="0"/>
              </a:spcBef>
              <a:buFont typeface="Arial"/>
              <a:buChar char="•"/>
            </a:pPr>
            <a:r>
              <a:rPr lang="en-US" sz="3100" i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Les informations sont centralisées et sécurisées.</a:t>
            </a:r>
          </a:p>
          <a:p>
            <a:pPr marL="669304" lvl="1" indent="-334652" algn="ctr">
              <a:lnSpc>
                <a:spcPts val="4340"/>
              </a:lnSpc>
              <a:spcBef>
                <a:spcPct val="0"/>
              </a:spcBef>
              <a:buFont typeface="Arial"/>
              <a:buChar char="•"/>
            </a:pPr>
            <a:r>
              <a:rPr lang="en-US" sz="3100" i="1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Le suivi des crédits et paiements est simplifié.</a:t>
            </a:r>
          </a:p>
          <a:p>
            <a:pPr algn="ctr">
              <a:lnSpc>
                <a:spcPts val="4340"/>
              </a:lnSpc>
              <a:spcBef>
                <a:spcPct val="0"/>
              </a:spcBef>
            </a:pPr>
            <a:endParaRPr lang="en-US" sz="3100" i="1">
              <a:solidFill>
                <a:srgbClr val="000000"/>
              </a:solidFill>
              <a:latin typeface="Noto Serif Italics"/>
              <a:ea typeface="Noto Serif Italics"/>
              <a:cs typeface="Noto Serif Italics"/>
              <a:sym typeface="Noto Serif Italic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783038" y="3010389"/>
            <a:ext cx="6580982" cy="2703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2"/>
              </a:lnSpc>
              <a:spcBef>
                <a:spcPct val="0"/>
              </a:spcBef>
            </a:pPr>
            <a:r>
              <a:rPr lang="en-US" sz="3402" i="1">
                <a:solidFill>
                  <a:srgbClr val="3241CA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Apports du projet</a:t>
            </a:r>
          </a:p>
          <a:p>
            <a:pPr marL="734607" lvl="1" indent="-367303" algn="ctr">
              <a:lnSpc>
                <a:spcPts val="3572"/>
              </a:lnSpc>
              <a:spcBef>
                <a:spcPct val="0"/>
              </a:spcBef>
              <a:buFont typeface="Arial"/>
              <a:buChar char="•"/>
            </a:pPr>
            <a:r>
              <a:rPr lang="en-US" sz="3402" i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Gain de temps.</a:t>
            </a:r>
          </a:p>
          <a:p>
            <a:pPr marL="734607" lvl="1" indent="-367303" algn="ctr">
              <a:lnSpc>
                <a:spcPts val="3572"/>
              </a:lnSpc>
              <a:spcBef>
                <a:spcPct val="0"/>
              </a:spcBef>
              <a:buFont typeface="Arial"/>
              <a:buChar char="•"/>
            </a:pPr>
            <a:r>
              <a:rPr lang="en-US" sz="3402" i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Réduction des erreurs.</a:t>
            </a:r>
          </a:p>
          <a:p>
            <a:pPr marL="734607" lvl="1" indent="-367303" algn="ctr">
              <a:lnSpc>
                <a:spcPts val="3572"/>
              </a:lnSpc>
              <a:spcBef>
                <a:spcPct val="0"/>
              </a:spcBef>
              <a:buFont typeface="Arial"/>
              <a:buChar char="•"/>
            </a:pPr>
            <a:r>
              <a:rPr lang="en-US" sz="3402" i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Meilleure gestion des dettes.</a:t>
            </a:r>
          </a:p>
          <a:p>
            <a:pPr marL="734607" lvl="1" indent="-367303" algn="ctr">
              <a:lnSpc>
                <a:spcPts val="3572"/>
              </a:lnSpc>
              <a:spcBef>
                <a:spcPct val="0"/>
              </a:spcBef>
              <a:buFont typeface="Arial"/>
              <a:buChar char="•"/>
            </a:pPr>
            <a:r>
              <a:rPr lang="en-US" sz="3402" i="1">
                <a:solidFill>
                  <a:srgbClr val="000000"/>
                </a:solidFill>
                <a:latin typeface="Noto Serif Display ExtraCondensed Italics"/>
                <a:ea typeface="Noto Serif Display ExtraCondensed Italics"/>
                <a:cs typeface="Noto Serif Display ExtraCondensed Italics"/>
                <a:sym typeface="Noto Serif Display ExtraCondensed Italics"/>
              </a:rPr>
              <a:t>Expérience utilisateur moderne.</a:t>
            </a:r>
          </a:p>
          <a:p>
            <a:pPr algn="ctr">
              <a:lnSpc>
                <a:spcPts val="3572"/>
              </a:lnSpc>
              <a:spcBef>
                <a:spcPct val="0"/>
              </a:spcBef>
            </a:pPr>
            <a:endParaRPr lang="en-US" sz="3402" i="1">
              <a:solidFill>
                <a:srgbClr val="000000"/>
              </a:solidFill>
              <a:latin typeface="Noto Serif Display ExtraCondensed Italics"/>
              <a:ea typeface="Noto Serif Display ExtraCondensed Italics"/>
              <a:cs typeface="Noto Serif Display ExtraCondensed Italics"/>
              <a:sym typeface="Noto Serif Display ExtraCondensed Itali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833</Words>
  <Application>Microsoft Office PowerPoint</Application>
  <PresentationFormat>Personnalisé</PresentationFormat>
  <Paragraphs>115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3" baseType="lpstr">
      <vt:lpstr>Arial</vt:lpstr>
      <vt:lpstr>Calibri</vt:lpstr>
      <vt:lpstr>Noto Sans Bold</vt:lpstr>
      <vt:lpstr>Noto Serif Bold Italics</vt:lpstr>
      <vt:lpstr>Noto Serif Display ExtraCondensed Italics</vt:lpstr>
      <vt:lpstr>Noto Serif Display</vt:lpstr>
      <vt:lpstr>Noto Sans</vt:lpstr>
      <vt:lpstr>Noto Serif Italics</vt:lpstr>
      <vt:lpstr>Noto Serif Display ExtraCondensed Bold Italics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Problématique</dc:title>
  <cp:lastModifiedBy>ZOUIBAA OUTMANE</cp:lastModifiedBy>
  <cp:revision>3</cp:revision>
  <dcterms:created xsi:type="dcterms:W3CDTF">2006-08-16T00:00:00Z</dcterms:created>
  <dcterms:modified xsi:type="dcterms:W3CDTF">2026-06-09T22:08:49Z</dcterms:modified>
  <dc:identifier>DAHL7XNuqgg</dc:identifier>
</cp:coreProperties>
</file>